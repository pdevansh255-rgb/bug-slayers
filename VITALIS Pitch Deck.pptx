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DM Sans Medium"/>
      <p:regular r:id="rId19"/>
      <p:bold r:id="rId20"/>
      <p:italic r:id="rId21"/>
      <p:boldItalic r:id="rId22"/>
    </p:embeddedFont>
    <p:embeddedFont>
      <p:font typeface="Poppins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  <p:embeddedFont>
      <p:font typeface="DM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7E157A-7ABA-48BD-A289-EA00F4A936FE}">
  <a:tblStyle styleId="{307E157A-7ABA-48BD-A289-EA00F4A936F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Medium-bold.fntdata"/><Relationship Id="rId22" Type="http://schemas.openxmlformats.org/officeDocument/2006/relationships/font" Target="fonts/DMSansMedium-boldItalic.fntdata"/><Relationship Id="rId21" Type="http://schemas.openxmlformats.org/officeDocument/2006/relationships/font" Target="fonts/DMSansMedium-italic.fntdata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-regular.fntdata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5.xml"/><Relationship Id="rId33" Type="http://schemas.openxmlformats.org/officeDocument/2006/relationships/font" Target="fonts/DMSans-italic.fntdata"/><Relationship Id="rId10" Type="http://schemas.openxmlformats.org/officeDocument/2006/relationships/slide" Target="slides/slide4.xml"/><Relationship Id="rId32" Type="http://schemas.openxmlformats.org/officeDocument/2006/relationships/font" Target="fonts/DM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DMSans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DMSansMedium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11" Type="http://schemas.openxmlformats.org/officeDocument/2006/relationships/image" Target="../media/image11.png"/><Relationship Id="rId10" Type="http://schemas.openxmlformats.org/officeDocument/2006/relationships/image" Target="../media/image4.png"/><Relationship Id="rId12" Type="http://schemas.openxmlformats.org/officeDocument/2006/relationships/image" Target="../media/image10.png"/><Relationship Id="rId9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8.png"/><Relationship Id="rId7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20.png"/><Relationship Id="rId13" Type="http://schemas.openxmlformats.org/officeDocument/2006/relationships/image" Target="../media/image21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25.png"/><Relationship Id="rId15" Type="http://schemas.openxmlformats.org/officeDocument/2006/relationships/image" Target="../media/image44.png"/><Relationship Id="rId14" Type="http://schemas.openxmlformats.org/officeDocument/2006/relationships/image" Target="../media/image27.png"/><Relationship Id="rId17" Type="http://schemas.openxmlformats.org/officeDocument/2006/relationships/image" Target="../media/image26.png"/><Relationship Id="rId16" Type="http://schemas.openxmlformats.org/officeDocument/2006/relationships/image" Target="../media/image30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Relationship Id="rId7" Type="http://schemas.openxmlformats.org/officeDocument/2006/relationships/image" Target="../media/image17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35.png"/><Relationship Id="rId8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6.png"/><Relationship Id="rId10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40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6.png"/><Relationship Id="rId10" Type="http://schemas.openxmlformats.org/officeDocument/2006/relationships/image" Target="../media/image43.png"/><Relationship Id="rId1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29.png"/><Relationship Id="rId9" Type="http://schemas.openxmlformats.org/officeDocument/2006/relationships/image" Target="../media/image53.png"/><Relationship Id="rId5" Type="http://schemas.openxmlformats.org/officeDocument/2006/relationships/image" Target="../media/image42.png"/><Relationship Id="rId6" Type="http://schemas.openxmlformats.org/officeDocument/2006/relationships/image" Target="../media/image34.png"/><Relationship Id="rId7" Type="http://schemas.openxmlformats.org/officeDocument/2006/relationships/image" Target="../media/image41.png"/><Relationship Id="rId8" Type="http://schemas.openxmlformats.org/officeDocument/2006/relationships/image" Target="../media/image45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54.png"/><Relationship Id="rId10" Type="http://schemas.openxmlformats.org/officeDocument/2006/relationships/image" Target="../media/image47.png"/><Relationship Id="rId1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7.png"/><Relationship Id="rId5" Type="http://schemas.openxmlformats.org/officeDocument/2006/relationships/image" Target="../media/image49.png"/><Relationship Id="rId6" Type="http://schemas.openxmlformats.org/officeDocument/2006/relationships/image" Target="../media/image51.png"/><Relationship Id="rId7" Type="http://schemas.openxmlformats.org/officeDocument/2006/relationships/image" Target="../media/image48.png"/><Relationship Id="rId8" Type="http://schemas.openxmlformats.org/officeDocument/2006/relationships/image" Target="../media/image52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62.png"/><Relationship Id="rId10" Type="http://schemas.openxmlformats.org/officeDocument/2006/relationships/image" Target="../media/image63.png"/><Relationship Id="rId12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59.png"/><Relationship Id="rId9" Type="http://schemas.openxmlformats.org/officeDocument/2006/relationships/image" Target="../media/image65.png"/><Relationship Id="rId5" Type="http://schemas.openxmlformats.org/officeDocument/2006/relationships/image" Target="../media/image55.png"/><Relationship Id="rId6" Type="http://schemas.openxmlformats.org/officeDocument/2006/relationships/image" Target="../media/image61.png"/><Relationship Id="rId7" Type="http://schemas.openxmlformats.org/officeDocument/2006/relationships/image" Target="../media/image68.png"/><Relationship Id="rId8" Type="http://schemas.openxmlformats.org/officeDocument/2006/relationships/image" Target="../media/image4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6.png"/><Relationship Id="rId4" Type="http://schemas.openxmlformats.org/officeDocument/2006/relationships/image" Target="../media/image69.png"/><Relationship Id="rId5" Type="http://schemas.openxmlformats.org/officeDocument/2006/relationships/image" Target="../media/image64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79.png"/><Relationship Id="rId10" Type="http://schemas.openxmlformats.org/officeDocument/2006/relationships/image" Target="../media/image70.png"/><Relationship Id="rId12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71.png"/><Relationship Id="rId9" Type="http://schemas.openxmlformats.org/officeDocument/2006/relationships/image" Target="../media/image77.png"/><Relationship Id="rId5" Type="http://schemas.openxmlformats.org/officeDocument/2006/relationships/image" Target="../media/image80.png"/><Relationship Id="rId6" Type="http://schemas.openxmlformats.org/officeDocument/2006/relationships/image" Target="../media/image74.png"/><Relationship Id="rId7" Type="http://schemas.openxmlformats.org/officeDocument/2006/relationships/image" Target="../media/image20.png"/><Relationship Id="rId8" Type="http://schemas.openxmlformats.org/officeDocument/2006/relationships/image" Target="../media/image4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7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73.png"/><Relationship Id="rId5" Type="http://schemas.openxmlformats.org/officeDocument/2006/relationships/image" Target="../media/image78.png"/><Relationship Id="rId6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9325" y="3875633"/>
            <a:ext cx="21812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52950" y="3875633"/>
            <a:ext cx="246697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72325" y="3875633"/>
            <a:ext cx="28003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67375" y="134391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4745831" y="2429767"/>
            <a:ext cx="2700337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VITALIS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162300" y="3275558"/>
            <a:ext cx="58674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F5BC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The AI Healthcare Agent That Doesn’t Just Advise — It Acts</a:t>
            </a:r>
            <a:endParaRPr/>
          </a:p>
        </p:txBody>
      </p:sp>
      <p:pic>
        <p:nvPicPr>
          <p:cNvPr descr="image.png" id="91" name="Google Shape;91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2925" y="4618583"/>
            <a:ext cx="111061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3667125" y="5285333"/>
            <a:ext cx="4857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BAB8"/>
                </a:solidFill>
                <a:latin typeface="DM Sans"/>
                <a:ea typeface="DM Sans"/>
                <a:cs typeface="DM Sans"/>
                <a:sym typeface="DM Sans"/>
              </a:rPr>
              <a:t>Built for every patient — from first symptom to lasting prevention</a:t>
            </a:r>
            <a:endParaRPr/>
          </a:p>
        </p:txBody>
      </p:sp>
      <p:pic>
        <p:nvPicPr>
          <p:cNvPr descr="image.png" id="93" name="Google Shape;93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0" y="154394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438400" y="3980408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72025" y="3980408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391400" y="3980408"/>
            <a:ext cx="1238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1993552"/>
            <a:ext cx="11106150" cy="481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3987403"/>
            <a:ext cx="3600450" cy="1068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95775" y="3987403"/>
            <a:ext cx="3600450" cy="1068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8625" y="3987403"/>
            <a:ext cx="3600450" cy="1068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5208389"/>
            <a:ext cx="3600450" cy="1068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95775" y="5208389"/>
            <a:ext cx="3600450" cy="1068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8625" y="5208389"/>
            <a:ext cx="3600450" cy="1068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2925" y="428625"/>
            <a:ext cx="7334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542925" y="1531590"/>
            <a:ext cx="111061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0F5BC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6 critical gaps in today’s healthcare journey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71525" y="2126902"/>
            <a:ext cx="106870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2F5F4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People get symptoms, but not direction. They get advice, but not the next step.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2328862" y="4187428"/>
            <a:ext cx="28575" cy="668535"/>
          </a:xfrm>
          <a:prstGeom prst="roundRect">
            <a:avLst>
              <a:gd fmla="val 50000" name="adj"/>
            </a:avLst>
          </a:prstGeom>
          <a:solidFill>
            <a:srgbClr val="00F5B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742950" y="4187428"/>
            <a:ext cx="336042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Unreliable self-diagnosis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742950" y="4469308"/>
            <a:ext cx="3200400" cy="386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4CECD"/>
                </a:solidFill>
                <a:latin typeface="DM Sans"/>
                <a:ea typeface="DM Sans"/>
                <a:cs typeface="DM Sans"/>
                <a:sym typeface="DM Sans"/>
              </a:rPr>
              <a:t>Vague symptom searches lead to confusion, panic, or false reassurance.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6081712" y="4187428"/>
            <a:ext cx="28575" cy="668535"/>
          </a:xfrm>
          <a:prstGeom prst="roundRect">
            <a:avLst>
              <a:gd fmla="val 50000" name="adj"/>
            </a:avLst>
          </a:prstGeom>
          <a:solidFill>
            <a:srgbClr val="00F5B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4495800" y="4187428"/>
            <a:ext cx="336042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 sense of urgency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4495800" y="4469308"/>
            <a:ext cx="3200400" cy="386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4CECD"/>
                </a:solidFill>
                <a:latin typeface="DM Sans"/>
                <a:ea typeface="DM Sans"/>
                <a:cs typeface="DM Sans"/>
                <a:sym typeface="DM Sans"/>
              </a:rPr>
              <a:t>Patients can’t tell if a symptom needs rest, a clinic, or an ER.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9834562" y="4187428"/>
            <a:ext cx="28575" cy="668535"/>
          </a:xfrm>
          <a:prstGeom prst="roundRect">
            <a:avLst>
              <a:gd fmla="val 50000" name="adj"/>
            </a:avLst>
          </a:prstGeom>
          <a:solidFill>
            <a:srgbClr val="00F5B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8248650" y="4187428"/>
            <a:ext cx="336042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 path to the right care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8248650" y="4469308"/>
            <a:ext cx="3200400" cy="386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4CECD"/>
                </a:solidFill>
                <a:latin typeface="DM Sans"/>
                <a:ea typeface="DM Sans"/>
                <a:cs typeface="DM Sans"/>
                <a:sym typeface="DM Sans"/>
              </a:rPr>
              <a:t>Finding a nearby, specialist-equipped hospital is left to the user.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2328862" y="5408414"/>
            <a:ext cx="28575" cy="668535"/>
          </a:xfrm>
          <a:prstGeom prst="roundRect">
            <a:avLst>
              <a:gd fmla="val 50000" name="adj"/>
            </a:avLst>
          </a:prstGeom>
          <a:solidFill>
            <a:srgbClr val="00F5B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742950" y="5408414"/>
            <a:ext cx="336042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Missed medications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742950" y="5690294"/>
            <a:ext cx="3200400" cy="386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4CECD"/>
                </a:solidFill>
                <a:latin typeface="DM Sans"/>
                <a:ea typeface="DM Sans"/>
                <a:cs typeface="DM Sans"/>
                <a:sym typeface="DM Sans"/>
              </a:rPr>
              <a:t>Dosage schedules are forgotten, especially by elderly patients.</a:t>
            </a:r>
            <a:endParaRPr/>
          </a:p>
        </p:txBody>
      </p:sp>
      <p:sp>
        <p:nvSpPr>
          <p:cNvPr id="124" name="Google Shape;124;p14"/>
          <p:cNvSpPr/>
          <p:nvPr/>
        </p:nvSpPr>
        <p:spPr>
          <a:xfrm>
            <a:off x="6081712" y="5408414"/>
            <a:ext cx="28575" cy="668535"/>
          </a:xfrm>
          <a:prstGeom prst="roundRect">
            <a:avLst>
              <a:gd fmla="val 50000" name="adj"/>
            </a:avLst>
          </a:prstGeom>
          <a:solidFill>
            <a:srgbClr val="00F5B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4495800" y="5408414"/>
            <a:ext cx="336042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Hereditary risks ignored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4495800" y="5690294"/>
            <a:ext cx="3200400" cy="386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4CECD"/>
                </a:solidFill>
                <a:latin typeface="DM Sans"/>
                <a:ea typeface="DM Sans"/>
                <a:cs typeface="DM Sans"/>
                <a:sym typeface="DM Sans"/>
              </a:rPr>
              <a:t>Family disease patterns go untracked until symptoms appear.</a:t>
            </a:r>
            <a:endParaRPr/>
          </a:p>
        </p:txBody>
      </p:sp>
      <p:sp>
        <p:nvSpPr>
          <p:cNvPr id="127" name="Google Shape;127;p14"/>
          <p:cNvSpPr/>
          <p:nvPr/>
        </p:nvSpPr>
        <p:spPr>
          <a:xfrm>
            <a:off x="9834562" y="5408414"/>
            <a:ext cx="28575" cy="668535"/>
          </a:xfrm>
          <a:prstGeom prst="roundRect">
            <a:avLst>
              <a:gd fmla="val 50000" name="adj"/>
            </a:avLst>
          </a:prstGeom>
          <a:solidFill>
            <a:srgbClr val="00F5B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4"/>
          <p:cNvSpPr txBox="1"/>
          <p:nvPr/>
        </p:nvSpPr>
        <p:spPr>
          <a:xfrm>
            <a:off x="8248650" y="5408414"/>
            <a:ext cx="336042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Reactive, not preventive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8248650" y="5690294"/>
            <a:ext cx="3200400" cy="19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4CECD"/>
                </a:solidFill>
                <a:latin typeface="DM Sans"/>
                <a:ea typeface="DM Sans"/>
                <a:cs typeface="DM Sans"/>
                <a:sym typeface="DM Sans"/>
              </a:rPr>
              <a:t>Most apps treat illness after the fact, not before it.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542925" y="952500"/>
            <a:ext cx="11649075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PROBLEM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1993552"/>
            <a:ext cx="11106150" cy="481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4443561"/>
            <a:ext cx="2114550" cy="17953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90825" y="4443561"/>
            <a:ext cx="2114550" cy="17953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38725" y="4443561"/>
            <a:ext cx="2114550" cy="17953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86625" y="4443561"/>
            <a:ext cx="2114550" cy="17953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34525" y="4443561"/>
            <a:ext cx="2114550" cy="17953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42925" y="428625"/>
            <a:ext cx="762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 txBox="1"/>
          <p:nvPr/>
        </p:nvSpPr>
        <p:spPr>
          <a:xfrm>
            <a:off x="542925" y="1531590"/>
            <a:ext cx="111061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0F5BC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Every kind of patient is our focus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771525" y="2126902"/>
            <a:ext cx="106870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2F5F4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Vitalis is designed around one truth: healthcare needs differ by life stage, geography, and history.</a:t>
            </a:r>
            <a:endParaRPr/>
          </a:p>
        </p:txBody>
      </p:sp>
      <p:pic>
        <p:nvPicPr>
          <p:cNvPr descr="image.png" id="145" name="Google Shape;14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2950" y="4643586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/>
        </p:nvSpPr>
        <p:spPr>
          <a:xfrm>
            <a:off x="742950" y="5176986"/>
            <a:ext cx="1800225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Everyday Patients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742950" y="5458866"/>
            <a:ext cx="1714500" cy="579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4CECD"/>
                </a:solidFill>
                <a:latin typeface="DM Sans"/>
                <a:ea typeface="DM Sans"/>
                <a:cs typeface="DM Sans"/>
                <a:sym typeface="DM Sans"/>
              </a:rPr>
              <a:t>Anyone unsure whether to self-treat, see a doctor, or head to the ER.</a:t>
            </a:r>
            <a:endParaRPr/>
          </a:p>
        </p:txBody>
      </p:sp>
      <p:pic>
        <p:nvPicPr>
          <p:cNvPr descr="image.png" id="148" name="Google Shape;148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990850" y="4643586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5"/>
          <p:cNvSpPr txBox="1"/>
          <p:nvPr/>
        </p:nvSpPr>
        <p:spPr>
          <a:xfrm>
            <a:off x="2990850" y="5176986"/>
            <a:ext cx="1800225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Elderly &amp; Chronic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2990850" y="5458866"/>
            <a:ext cx="1714500" cy="579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4CECD"/>
                </a:solidFill>
                <a:latin typeface="DM Sans"/>
                <a:ea typeface="DM Sans"/>
                <a:cs typeface="DM Sans"/>
                <a:sym typeface="DM Sans"/>
              </a:rPr>
              <a:t>Need consistent medication tracking and fast specialist access.</a:t>
            </a:r>
            <a:endParaRPr/>
          </a:p>
        </p:txBody>
      </p:sp>
      <p:pic>
        <p:nvPicPr>
          <p:cNvPr descr="image.png" id="151" name="Google Shape;151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238750" y="4643586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5"/>
          <p:cNvSpPr txBox="1"/>
          <p:nvPr/>
        </p:nvSpPr>
        <p:spPr>
          <a:xfrm>
            <a:off x="5238750" y="5176986"/>
            <a:ext cx="1800225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Rural &amp; Tier-2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5238750" y="5458866"/>
            <a:ext cx="1714500" cy="579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4CECD"/>
                </a:solidFill>
                <a:latin typeface="DM Sans"/>
                <a:ea typeface="DM Sans"/>
                <a:cs typeface="DM Sans"/>
                <a:sym typeface="DM Sans"/>
              </a:rPr>
              <a:t>Limited specialist access — need clear direction to capable care.</a:t>
            </a:r>
            <a:endParaRPr/>
          </a:p>
        </p:txBody>
      </p:sp>
      <p:pic>
        <p:nvPicPr>
          <p:cNvPr descr="image.png" id="154" name="Google Shape;154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486650" y="4643586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/>
          <p:cNvSpPr txBox="1"/>
          <p:nvPr/>
        </p:nvSpPr>
        <p:spPr>
          <a:xfrm>
            <a:off x="7486650" y="5176986"/>
            <a:ext cx="1800225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Busy Professionals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7486650" y="5458866"/>
            <a:ext cx="1714500" cy="579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4CECD"/>
                </a:solidFill>
                <a:latin typeface="DM Sans"/>
                <a:ea typeface="DM Sans"/>
                <a:cs typeface="DM Sans"/>
                <a:sym typeface="DM Sans"/>
              </a:rPr>
              <a:t>Erratic schedules leave no room to research care options themselves.</a:t>
            </a:r>
            <a:endParaRPr/>
          </a:p>
        </p:txBody>
      </p:sp>
      <p:pic>
        <p:nvPicPr>
          <p:cNvPr descr="image.png" id="157" name="Google Shape;157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34550" y="4643586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5"/>
          <p:cNvSpPr txBox="1"/>
          <p:nvPr/>
        </p:nvSpPr>
        <p:spPr>
          <a:xfrm>
            <a:off x="9734550" y="5176986"/>
            <a:ext cx="1800225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At-Risk Families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9734550" y="5458866"/>
            <a:ext cx="1714500" cy="579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4CECD"/>
                </a:solidFill>
                <a:latin typeface="DM Sans"/>
                <a:ea typeface="DM Sans"/>
                <a:cs typeface="DM Sans"/>
                <a:sym typeface="DM Sans"/>
              </a:rPr>
              <a:t>Want to move from reacting to disease to actively preventing it.</a:t>
            </a:r>
            <a:endParaRPr/>
          </a:p>
        </p:txBody>
      </p:sp>
      <p:pic>
        <p:nvPicPr>
          <p:cNvPr descr="image.png" id="160" name="Google Shape;160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66775" y="4757886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081337" y="4757886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338762" y="4757886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600950" y="4757886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825037" y="4757886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5"/>
          <p:cNvSpPr txBox="1"/>
          <p:nvPr/>
        </p:nvSpPr>
        <p:spPr>
          <a:xfrm>
            <a:off x="542925" y="952500"/>
            <a:ext cx="11649075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WHO WE SERVE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5948362"/>
            <a:ext cx="11106150" cy="481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1993552"/>
            <a:ext cx="3575000" cy="22331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08425" y="1993552"/>
            <a:ext cx="3575000" cy="22331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73925" y="1993552"/>
            <a:ext cx="3575149" cy="22331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2925" y="428625"/>
            <a:ext cx="762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6"/>
          <p:cNvSpPr txBox="1"/>
          <p:nvPr/>
        </p:nvSpPr>
        <p:spPr>
          <a:xfrm>
            <a:off x="542925" y="1531590"/>
            <a:ext cx="111061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0F5BC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The gap between symptom and care is where harm happens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771525" y="6081712"/>
            <a:ext cx="106870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2F5F4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Vitalis exists to close that gap — turning uncertainty into a clear, immediate next step.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781050" y="2269777"/>
            <a:ext cx="3098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F5BC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781050" y="2822227"/>
            <a:ext cx="325368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Delay costs outcomes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781050" y="3036093"/>
            <a:ext cx="309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CFCE"/>
                </a:solidFill>
                <a:latin typeface="DM Sans"/>
                <a:ea typeface="DM Sans"/>
                <a:cs typeface="DM Sans"/>
                <a:sym typeface="DM Sans"/>
              </a:rPr>
              <a:t>Chronic conditions like heart disease and diabetes are far more treatable when caught early — yet most people only act once symptoms are severe.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4546550" y="2269777"/>
            <a:ext cx="3098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F5BC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4546550" y="2822227"/>
            <a:ext cx="325368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Non-adherence undermines care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4546550" y="3036093"/>
            <a:ext cx="3098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CFCE"/>
                </a:solidFill>
                <a:latin typeface="DM Sans"/>
                <a:ea typeface="DM Sans"/>
                <a:cs typeface="DM Sans"/>
                <a:sym typeface="DM Sans"/>
              </a:rPr>
              <a:t>Forgotten doses and skipped follow-ups quietly erode the value of every diagnosis and prescription.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8312050" y="2269777"/>
            <a:ext cx="30988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F5BC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8312050" y="2822227"/>
            <a:ext cx="3253844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Access gaps waste critical time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8312050" y="3036093"/>
            <a:ext cx="30988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CFCE"/>
                </a:solidFill>
                <a:latin typeface="DM Sans"/>
                <a:ea typeface="DM Sans"/>
                <a:cs typeface="DM Sans"/>
                <a:sym typeface="DM Sans"/>
              </a:rPr>
              <a:t>In emergencies, minutes matter — uncertainty about where to go can be as dangerous as the symptom itself.</a:t>
            </a:r>
            <a:endParaRPr/>
          </a:p>
        </p:txBody>
      </p:sp>
      <p:pic>
        <p:nvPicPr>
          <p:cNvPr descr="image.png" id="187" name="Google Shape;18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6110287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6"/>
          <p:cNvSpPr txBox="1"/>
          <p:nvPr/>
        </p:nvSpPr>
        <p:spPr>
          <a:xfrm>
            <a:off x="542925" y="952500"/>
            <a:ext cx="11649075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WHY IT MATTERS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5734050"/>
            <a:ext cx="1110615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2465040"/>
            <a:ext cx="2662237" cy="1394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7562" y="2465040"/>
            <a:ext cx="2662237" cy="1394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2200" y="2465040"/>
            <a:ext cx="2662237" cy="1394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86837" y="2465040"/>
            <a:ext cx="2662237" cy="1394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02593" y="270316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17231" y="270316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31868" y="270316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146506" y="270316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42925" y="428625"/>
            <a:ext cx="7715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7"/>
          <p:cNvSpPr txBox="1"/>
          <p:nvPr/>
        </p:nvSpPr>
        <p:spPr>
          <a:xfrm>
            <a:off x="542925" y="1531590"/>
            <a:ext cx="111061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0F5BC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Vitalis: guidance that ends in action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542925" y="1993552"/>
            <a:ext cx="111061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D2E8E7"/>
                </a:solidFill>
                <a:latin typeface="DM Sans"/>
                <a:ea typeface="DM Sans"/>
                <a:cs typeface="DM Sans"/>
                <a:sym typeface="DM Sans"/>
              </a:rPr>
              <a:t>An AI health agent that reasons about symptoms, decides urgency, and carries the user through to care and prevention.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771525" y="5867400"/>
            <a:ext cx="106870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E2F5F4"/>
                </a:solidFill>
                <a:latin typeface="DM Sans"/>
                <a:ea typeface="DM Sans"/>
                <a:cs typeface="DM Sans"/>
                <a:sym typeface="DM Sans"/>
              </a:rPr>
              <a:t>One continuous loop — not four disconnected tools.</a:t>
            </a:r>
            <a:r>
              <a:rPr b="0" i="0" lang="en-US" sz="1125" u="none" cap="none" strike="noStrike">
                <a:solidFill>
                  <a:srgbClr val="E2F5F4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Vitalis is the only layer of the healthcare journey that stays with the patient from first symptom to long-term prevention.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726400" y="3179415"/>
            <a:ext cx="2295286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Understand</a:t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781050" y="3393281"/>
            <a:ext cx="21859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CFCE"/>
                </a:solidFill>
                <a:latin typeface="DM Sans"/>
                <a:ea typeface="DM Sans"/>
                <a:cs typeface="DM Sans"/>
                <a:sym typeface="DM Sans"/>
              </a:rPr>
              <a:t>Symptom &amp; context intake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3541037" y="3179415"/>
            <a:ext cx="2295286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Reason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3595687" y="3393281"/>
            <a:ext cx="21859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CFCE"/>
                </a:solidFill>
                <a:latin typeface="DM Sans"/>
                <a:ea typeface="DM Sans"/>
                <a:cs typeface="DM Sans"/>
                <a:sym typeface="DM Sans"/>
              </a:rPr>
              <a:t>AI triage &amp; severity check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6355675" y="3179415"/>
            <a:ext cx="2295286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Direct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6410325" y="3393281"/>
            <a:ext cx="21859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CFCE"/>
                </a:solidFill>
                <a:latin typeface="DM Sans"/>
                <a:ea typeface="DM Sans"/>
                <a:cs typeface="DM Sans"/>
                <a:sym typeface="DM Sans"/>
              </a:rPr>
              <a:t>Best-fit hospital / care path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9170312" y="3179415"/>
            <a:ext cx="2295286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Prevent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9224962" y="3393281"/>
            <a:ext cx="21859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CFCE"/>
                </a:solidFill>
                <a:latin typeface="DM Sans"/>
                <a:ea typeface="DM Sans"/>
                <a:cs typeface="DM Sans"/>
                <a:sym typeface="DM Sans"/>
              </a:rPr>
              <a:t>Family risk &amp; lifestyle plan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542925" y="952500"/>
            <a:ext cx="11649075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OUR SOLUTION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5948362"/>
            <a:ext cx="11106150" cy="481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1993552"/>
            <a:ext cx="5457825" cy="1068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1993552"/>
            <a:ext cx="5457825" cy="1068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" y="3252638"/>
            <a:ext cx="5457825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0" y="3252638"/>
            <a:ext cx="5457825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2925" y="428625"/>
            <a:ext cx="7715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8"/>
          <p:cNvSpPr txBox="1"/>
          <p:nvPr/>
        </p:nvSpPr>
        <p:spPr>
          <a:xfrm>
            <a:off x="542925" y="1531590"/>
            <a:ext cx="111061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0F5BC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Everyday health support, always on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771525" y="6081712"/>
            <a:ext cx="106870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2F5F4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These are table stakes. What makes Vitalis different comes next.</a:t>
            </a:r>
            <a:endParaRPr/>
          </a:p>
        </p:txBody>
      </p:sp>
      <p:pic>
        <p:nvPicPr>
          <p:cNvPr descr="image.png" id="229" name="Google Shape;22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2950" y="219357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91275" y="219357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2950" y="3452663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91275" y="3452663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250" y="230787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8"/>
          <p:cNvSpPr txBox="1"/>
          <p:nvPr/>
        </p:nvSpPr>
        <p:spPr>
          <a:xfrm>
            <a:off x="1314450" y="2193577"/>
            <a:ext cx="4710588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Symptom Checker</a:t>
            </a:r>
            <a:endParaRPr/>
          </a:p>
        </p:txBody>
      </p:sp>
      <p:sp>
        <p:nvSpPr>
          <p:cNvPr id="235" name="Google Shape;235;p18"/>
          <p:cNvSpPr txBox="1"/>
          <p:nvPr/>
        </p:nvSpPr>
        <p:spPr>
          <a:xfrm>
            <a:off x="1314450" y="2475458"/>
            <a:ext cx="4486275" cy="386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4CECD"/>
                </a:solidFill>
                <a:latin typeface="DM Sans"/>
                <a:ea typeface="DM Sans"/>
                <a:cs typeface="DM Sans"/>
                <a:sym typeface="DM Sans"/>
              </a:rPr>
              <a:t>Conversational intake that interprets symptoms in plain language and assesses likely causes.</a:t>
            </a:r>
            <a:endParaRPr/>
          </a:p>
        </p:txBody>
      </p:sp>
      <p:pic>
        <p:nvPicPr>
          <p:cNvPr descr="image.png" id="236" name="Google Shape;236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91287" y="2307877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8"/>
          <p:cNvSpPr txBox="1"/>
          <p:nvPr/>
        </p:nvSpPr>
        <p:spPr>
          <a:xfrm>
            <a:off x="6962775" y="2193577"/>
            <a:ext cx="4340542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Medicine Reminders</a:t>
            </a:r>
            <a:endParaRPr/>
          </a:p>
        </p:txBody>
      </p:sp>
      <p:sp>
        <p:nvSpPr>
          <p:cNvPr id="238" name="Google Shape;238;p18"/>
          <p:cNvSpPr txBox="1"/>
          <p:nvPr/>
        </p:nvSpPr>
        <p:spPr>
          <a:xfrm>
            <a:off x="6962775" y="2475458"/>
            <a:ext cx="4133850" cy="19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4CECD"/>
                </a:solidFill>
                <a:latin typeface="DM Sans"/>
                <a:ea typeface="DM Sans"/>
                <a:cs typeface="DM Sans"/>
                <a:sym typeface="DM Sans"/>
              </a:rPr>
              <a:t>Personalized dosage schedules with adaptive alerts for adherence.</a:t>
            </a:r>
            <a:endParaRPr/>
          </a:p>
        </p:txBody>
      </p:sp>
      <p:pic>
        <p:nvPicPr>
          <p:cNvPr descr="image.png" id="239" name="Google Shape;239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6775" y="3566963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8"/>
          <p:cNvSpPr txBox="1"/>
          <p:nvPr/>
        </p:nvSpPr>
        <p:spPr>
          <a:xfrm>
            <a:off x="1314450" y="3452663"/>
            <a:ext cx="4120515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Diet Recommendations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1314450" y="3734544"/>
            <a:ext cx="3924300" cy="19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4CECD"/>
                </a:solidFill>
                <a:latin typeface="DM Sans"/>
                <a:ea typeface="DM Sans"/>
                <a:cs typeface="DM Sans"/>
                <a:sym typeface="DM Sans"/>
              </a:rPr>
              <a:t>Nutrition guidance tailored to condition, goals, and preferences.</a:t>
            </a:r>
            <a:endParaRPr/>
          </a:p>
        </p:txBody>
      </p:sp>
      <p:pic>
        <p:nvPicPr>
          <p:cNvPr descr="image.png" id="242" name="Google Shape;242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05575" y="3566963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8"/>
          <p:cNvSpPr txBox="1"/>
          <p:nvPr/>
        </p:nvSpPr>
        <p:spPr>
          <a:xfrm>
            <a:off x="6962775" y="3452663"/>
            <a:ext cx="4410551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Exercise Plans</a:t>
            </a:r>
            <a:endParaRPr/>
          </a:p>
        </p:txBody>
      </p:sp>
      <p:sp>
        <p:nvSpPr>
          <p:cNvPr id="244" name="Google Shape;244;p18"/>
          <p:cNvSpPr txBox="1"/>
          <p:nvPr/>
        </p:nvSpPr>
        <p:spPr>
          <a:xfrm>
            <a:off x="6962775" y="3734544"/>
            <a:ext cx="4200525" cy="19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4CECD"/>
                </a:solidFill>
                <a:latin typeface="DM Sans"/>
                <a:ea typeface="DM Sans"/>
                <a:cs typeface="DM Sans"/>
                <a:sym typeface="DM Sans"/>
              </a:rPr>
              <a:t>Activity suggestions calibrated to health status and recovery needs.</a:t>
            </a:r>
            <a:endParaRPr/>
          </a:p>
        </p:txBody>
      </p:sp>
      <p:sp>
        <p:nvSpPr>
          <p:cNvPr id="245" name="Google Shape;245;p18"/>
          <p:cNvSpPr txBox="1"/>
          <p:nvPr/>
        </p:nvSpPr>
        <p:spPr>
          <a:xfrm>
            <a:off x="542925" y="952500"/>
            <a:ext cx="11649075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FOUNDATION FEATURES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97935" y="2412652"/>
            <a:ext cx="4351139" cy="4016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36060" y="5772150"/>
            <a:ext cx="3874889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" y="428625"/>
            <a:ext cx="7715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9"/>
          <p:cNvSpPr txBox="1"/>
          <p:nvPr/>
        </p:nvSpPr>
        <p:spPr>
          <a:xfrm>
            <a:off x="542925" y="1531590"/>
            <a:ext cx="111061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0F5BC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Smart Hospital Navigator</a:t>
            </a:r>
            <a:endParaRPr/>
          </a:p>
        </p:txBody>
      </p:sp>
      <p:sp>
        <p:nvSpPr>
          <p:cNvPr id="255" name="Google Shape;255;p19"/>
          <p:cNvSpPr txBox="1"/>
          <p:nvPr/>
        </p:nvSpPr>
        <p:spPr>
          <a:xfrm>
            <a:off x="542925" y="1993552"/>
            <a:ext cx="11106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F5F4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From "what’s wrong with me" to "walk in here" — in one flow.</a:t>
            </a:r>
            <a:endParaRPr/>
          </a:p>
        </p:txBody>
      </p:sp>
      <p:pic>
        <p:nvPicPr>
          <p:cNvPr descr="image.png" id="256" name="Google Shape;25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3900" y="257457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3900" y="3633638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3900" y="4692699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3900" y="5751760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9"/>
          <p:cNvSpPr txBox="1"/>
          <p:nvPr/>
        </p:nvSpPr>
        <p:spPr>
          <a:xfrm>
            <a:off x="7536060" y="3012727"/>
            <a:ext cx="3874889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0E8E7"/>
                </a:solidFill>
                <a:latin typeface="DM Sans"/>
                <a:ea typeface="DM Sans"/>
                <a:cs typeface="DM Sans"/>
                <a:sym typeface="DM Sans"/>
              </a:rPr>
              <a:t>For high-severity cases, Vitalis instantly surfaces the nearest ER with live ETA and shares location with an emergency contact — turning critical minutes into a guided response.</a:t>
            </a:r>
            <a:endParaRPr/>
          </a:p>
        </p:txBody>
      </p:sp>
      <p:pic>
        <p:nvPicPr>
          <p:cNvPr descr="image.png" id="261" name="Google Shape;261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11417" y="5915025"/>
            <a:ext cx="1714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9"/>
          <p:cNvSpPr txBox="1"/>
          <p:nvPr/>
        </p:nvSpPr>
        <p:spPr>
          <a:xfrm>
            <a:off x="1066800" y="2555527"/>
            <a:ext cx="6112638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Severity Triage</a:t>
            </a:r>
            <a:endParaRPr/>
          </a:p>
        </p:txBody>
      </p:sp>
      <p:sp>
        <p:nvSpPr>
          <p:cNvPr id="263" name="Google Shape;263;p19"/>
          <p:cNvSpPr txBox="1"/>
          <p:nvPr/>
        </p:nvSpPr>
        <p:spPr>
          <a:xfrm>
            <a:off x="1066800" y="2738288"/>
            <a:ext cx="582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CFCE"/>
                </a:solidFill>
                <a:latin typeface="DM Sans"/>
                <a:ea typeface="DM Sans"/>
                <a:cs typeface="DM Sans"/>
                <a:sym typeface="DM Sans"/>
              </a:rPr>
              <a:t>Classifies urgency — self-care, clinic, urgent care, or emergency — before any hospital is suggested.</a:t>
            </a:r>
            <a:endParaRPr/>
          </a:p>
        </p:txBody>
      </p:sp>
      <p:sp>
        <p:nvSpPr>
          <p:cNvPr id="264" name="Google Shape;264;p19"/>
          <p:cNvSpPr txBox="1"/>
          <p:nvPr/>
        </p:nvSpPr>
        <p:spPr>
          <a:xfrm>
            <a:off x="1095375" y="3614588"/>
            <a:ext cx="6082635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Specialty Matching</a:t>
            </a:r>
            <a:endParaRPr/>
          </a:p>
        </p:txBody>
      </p:sp>
      <p:sp>
        <p:nvSpPr>
          <p:cNvPr id="265" name="Google Shape;265;p19"/>
          <p:cNvSpPr txBox="1"/>
          <p:nvPr/>
        </p:nvSpPr>
        <p:spPr>
          <a:xfrm>
            <a:off x="1095375" y="3797349"/>
            <a:ext cx="579298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CFCE"/>
                </a:solidFill>
                <a:latin typeface="DM Sans"/>
                <a:ea typeface="DM Sans"/>
                <a:cs typeface="DM Sans"/>
                <a:sym typeface="DM Sans"/>
              </a:rPr>
              <a:t>Ranks nearby hospitals by department fit, not just distance — cardiology, ortho, dermatology, and more.</a:t>
            </a:r>
            <a:endParaRPr/>
          </a:p>
        </p:txBody>
      </p:sp>
      <p:sp>
        <p:nvSpPr>
          <p:cNvPr id="266" name="Google Shape;266;p19"/>
          <p:cNvSpPr txBox="1"/>
          <p:nvPr/>
        </p:nvSpPr>
        <p:spPr>
          <a:xfrm>
            <a:off x="1066800" y="4673649"/>
            <a:ext cx="6112638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Distance, ETA &amp; Ratings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1066800" y="4856410"/>
            <a:ext cx="582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CFCE"/>
                </a:solidFill>
                <a:latin typeface="DM Sans"/>
                <a:ea typeface="DM Sans"/>
                <a:cs typeface="DM Sans"/>
                <a:sym typeface="DM Sans"/>
              </a:rPr>
              <a:t>Shows travel time, patient ratings, and live map view for every recommended hospital.</a:t>
            </a:r>
            <a:endParaRPr/>
          </a:p>
        </p:txBody>
      </p:sp>
      <p:sp>
        <p:nvSpPr>
          <p:cNvPr id="268" name="Google Shape;268;p19"/>
          <p:cNvSpPr txBox="1"/>
          <p:nvPr/>
        </p:nvSpPr>
        <p:spPr>
          <a:xfrm>
            <a:off x="1047750" y="5732710"/>
            <a:ext cx="5720715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One-Tap Navigation</a:t>
            </a:r>
            <a:endParaRPr/>
          </a:p>
        </p:txBody>
      </p:sp>
      <p:sp>
        <p:nvSpPr>
          <p:cNvPr id="269" name="Google Shape;269;p19"/>
          <p:cNvSpPr txBox="1"/>
          <p:nvPr/>
        </p:nvSpPr>
        <p:spPr>
          <a:xfrm>
            <a:off x="1047750" y="5915471"/>
            <a:ext cx="5448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CFCE"/>
                </a:solidFill>
                <a:latin typeface="DM Sans"/>
                <a:ea typeface="DM Sans"/>
                <a:cs typeface="DM Sans"/>
                <a:sym typeface="DM Sans"/>
              </a:rPr>
              <a:t>Launches Google Maps directions instantly — no app-switching, no searching.</a:t>
            </a:r>
            <a:endParaRPr/>
          </a:p>
        </p:txBody>
      </p:sp>
      <p:pic>
        <p:nvPicPr>
          <p:cNvPr descr="image.png" id="270" name="Google Shape;270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536060" y="266982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9"/>
          <p:cNvSpPr txBox="1"/>
          <p:nvPr/>
        </p:nvSpPr>
        <p:spPr>
          <a:xfrm>
            <a:off x="7840860" y="2650777"/>
            <a:ext cx="167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2CFCE"/>
                </a:solidFill>
                <a:latin typeface="DM Sans"/>
                <a:ea typeface="DM Sans"/>
                <a:cs typeface="DM Sans"/>
                <a:sym typeface="DM Sans"/>
              </a:rPr>
              <a:t>Emergency SOS Mode</a:t>
            </a:r>
            <a:endParaRPr/>
          </a:p>
        </p:txBody>
      </p:sp>
      <p:sp>
        <p:nvSpPr>
          <p:cNvPr id="272" name="Google Shape;272;p19"/>
          <p:cNvSpPr txBox="1"/>
          <p:nvPr/>
        </p:nvSpPr>
        <p:spPr>
          <a:xfrm>
            <a:off x="542925" y="952500"/>
            <a:ext cx="11649075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SIGNATURE FEATURE 01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5997624"/>
            <a:ext cx="11106150" cy="481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2412652"/>
            <a:ext cx="5457825" cy="16019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412652"/>
            <a:ext cx="5457825" cy="16019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" y="4205138"/>
            <a:ext cx="5457825" cy="16019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0" y="4205138"/>
            <a:ext cx="5457825" cy="16019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2925" y="428625"/>
            <a:ext cx="762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0"/>
          <p:cNvSpPr txBox="1"/>
          <p:nvPr/>
        </p:nvSpPr>
        <p:spPr>
          <a:xfrm>
            <a:off x="542925" y="1531590"/>
            <a:ext cx="111061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0F5BC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Family Health Risk Mapping</a:t>
            </a:r>
            <a:endParaRPr/>
          </a:p>
        </p:txBody>
      </p:sp>
      <p:sp>
        <p:nvSpPr>
          <p:cNvPr id="285" name="Google Shape;285;p20"/>
          <p:cNvSpPr txBox="1"/>
          <p:nvPr/>
        </p:nvSpPr>
        <p:spPr>
          <a:xfrm>
            <a:off x="542925" y="1993552"/>
            <a:ext cx="11106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F5F4"/>
                </a:solidFill>
                <a:latin typeface="DM Sans"/>
                <a:ea typeface="DM Sans"/>
                <a:cs typeface="DM Sans"/>
                <a:sym typeface="DM Sans"/>
              </a:rPr>
              <a:t>Preventive care that starts before symptoms ever appear.</a:t>
            </a:r>
            <a:endParaRPr/>
          </a:p>
        </p:txBody>
      </p:sp>
      <p:sp>
        <p:nvSpPr>
          <p:cNvPr id="286" name="Google Shape;286;p20"/>
          <p:cNvSpPr txBox="1"/>
          <p:nvPr/>
        </p:nvSpPr>
        <p:spPr>
          <a:xfrm>
            <a:off x="771525" y="6130974"/>
            <a:ext cx="106870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2F5F4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Reactive care treats illness. Vitalis helps families get ahead of it.</a:t>
            </a:r>
            <a:endParaRPr/>
          </a:p>
        </p:txBody>
      </p:sp>
      <p:pic>
        <p:nvPicPr>
          <p:cNvPr descr="image.png" id="287" name="Google Shape;28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2950" y="261267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0"/>
          <p:cNvSpPr txBox="1"/>
          <p:nvPr/>
        </p:nvSpPr>
        <p:spPr>
          <a:xfrm>
            <a:off x="742950" y="3146077"/>
            <a:ext cx="5310663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Build Family Profile</a:t>
            </a:r>
            <a:endParaRPr/>
          </a:p>
        </p:txBody>
      </p:sp>
      <p:sp>
        <p:nvSpPr>
          <p:cNvPr id="289" name="Google Shape;289;p20"/>
          <p:cNvSpPr txBox="1"/>
          <p:nvPr/>
        </p:nvSpPr>
        <p:spPr>
          <a:xfrm>
            <a:off x="742950" y="3427958"/>
            <a:ext cx="5057775" cy="386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4CECD"/>
                </a:solidFill>
                <a:latin typeface="DM Sans"/>
                <a:ea typeface="DM Sans"/>
                <a:cs typeface="DM Sans"/>
                <a:sym typeface="DM Sans"/>
              </a:rPr>
              <a:t>Users log medical history for parents, grandparents, and siblings in a simple guided form.</a:t>
            </a:r>
            <a:endParaRPr/>
          </a:p>
        </p:txBody>
      </p:sp>
      <p:pic>
        <p:nvPicPr>
          <p:cNvPr descr="image.png" id="290" name="Google Shape;29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91275" y="261267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0"/>
          <p:cNvSpPr txBox="1"/>
          <p:nvPr/>
        </p:nvSpPr>
        <p:spPr>
          <a:xfrm>
            <a:off x="6391275" y="3146077"/>
            <a:ext cx="5310663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Detect Hereditary Risks</a:t>
            </a:r>
            <a:endParaRPr/>
          </a:p>
        </p:txBody>
      </p:sp>
      <p:sp>
        <p:nvSpPr>
          <p:cNvPr id="292" name="Google Shape;292;p20"/>
          <p:cNvSpPr txBox="1"/>
          <p:nvPr/>
        </p:nvSpPr>
        <p:spPr>
          <a:xfrm>
            <a:off x="6391275" y="3427958"/>
            <a:ext cx="5057775" cy="386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4CECD"/>
                </a:solidFill>
                <a:latin typeface="DM Sans"/>
                <a:ea typeface="DM Sans"/>
                <a:cs typeface="DM Sans"/>
                <a:sym typeface="DM Sans"/>
              </a:rPr>
              <a:t>AI flags elevated risk for conditions like diabetes, heart disease, and hypertension based on lineage.</a:t>
            </a:r>
            <a:endParaRPr/>
          </a:p>
        </p:txBody>
      </p:sp>
      <p:pic>
        <p:nvPicPr>
          <p:cNvPr descr="image.png" id="293" name="Google Shape;293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2950" y="4405163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0"/>
          <p:cNvSpPr txBox="1"/>
          <p:nvPr/>
        </p:nvSpPr>
        <p:spPr>
          <a:xfrm>
            <a:off x="742950" y="4938563"/>
            <a:ext cx="5310663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Personalized Prevention</a:t>
            </a:r>
            <a:endParaRPr/>
          </a:p>
        </p:txBody>
      </p:sp>
      <p:sp>
        <p:nvSpPr>
          <p:cNvPr id="295" name="Google Shape;295;p20"/>
          <p:cNvSpPr txBox="1"/>
          <p:nvPr/>
        </p:nvSpPr>
        <p:spPr>
          <a:xfrm>
            <a:off x="742950" y="5220444"/>
            <a:ext cx="5057775" cy="386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4CECD"/>
                </a:solidFill>
                <a:latin typeface="DM Sans"/>
                <a:ea typeface="DM Sans"/>
                <a:cs typeface="DM Sans"/>
                <a:sym typeface="DM Sans"/>
              </a:rPr>
              <a:t>Tailored lifestyle, diet, and screening recommendations matched to each identified risk.</a:t>
            </a:r>
            <a:endParaRPr/>
          </a:p>
        </p:txBody>
      </p:sp>
      <p:pic>
        <p:nvPicPr>
          <p:cNvPr descr="image.png" id="296" name="Google Shape;29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91275" y="4405163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0"/>
          <p:cNvSpPr txBox="1"/>
          <p:nvPr/>
        </p:nvSpPr>
        <p:spPr>
          <a:xfrm>
            <a:off x="6391275" y="4938563"/>
            <a:ext cx="5310663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4. Proactive Check-ups</a:t>
            </a:r>
            <a:endParaRPr/>
          </a:p>
        </p:txBody>
      </p:sp>
      <p:sp>
        <p:nvSpPr>
          <p:cNvPr id="298" name="Google Shape;298;p20"/>
          <p:cNvSpPr txBox="1"/>
          <p:nvPr/>
        </p:nvSpPr>
        <p:spPr>
          <a:xfrm>
            <a:off x="6391275" y="5220444"/>
            <a:ext cx="5057775" cy="386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4CECD"/>
                </a:solidFill>
                <a:latin typeface="DM Sans"/>
                <a:ea typeface="DM Sans"/>
                <a:cs typeface="DM Sans"/>
                <a:sym typeface="DM Sans"/>
              </a:rPr>
              <a:t>Scheduled nudges for the screenings that matter most for that individual’s risk profile.</a:t>
            </a:r>
            <a:endParaRPr/>
          </a:p>
        </p:txBody>
      </p:sp>
      <p:pic>
        <p:nvPicPr>
          <p:cNvPr descr="image.png" id="299" name="Google Shape;299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3437" y="2726977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15100" y="272697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81062" y="4519463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15100" y="4519463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0"/>
          <p:cNvSpPr txBox="1"/>
          <p:nvPr/>
        </p:nvSpPr>
        <p:spPr>
          <a:xfrm>
            <a:off x="542925" y="952500"/>
            <a:ext cx="11649075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SIGNATURE FEATURE 02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8" name="Google Shape;3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428625"/>
            <a:ext cx="7715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1"/>
          <p:cNvSpPr txBox="1"/>
          <p:nvPr/>
        </p:nvSpPr>
        <p:spPr>
          <a:xfrm>
            <a:off x="542925" y="1531590"/>
            <a:ext cx="111061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0F5BC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What Vitalis is actually able to do</a:t>
            </a:r>
            <a:endParaRPr/>
          </a:p>
        </p:txBody>
      </p:sp>
      <p:sp>
        <p:nvSpPr>
          <p:cNvPr id="311" name="Google Shape;311;p21"/>
          <p:cNvSpPr txBox="1"/>
          <p:nvPr/>
        </p:nvSpPr>
        <p:spPr>
          <a:xfrm>
            <a:off x="542925" y="1993552"/>
            <a:ext cx="111061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4CECD"/>
                </a:solidFill>
                <a:latin typeface="DM Sans"/>
                <a:ea typeface="DM Sans"/>
                <a:cs typeface="DM Sans"/>
                <a:sym typeface="DM Sans"/>
              </a:rPr>
              <a:t>Every capability below maps to a real action the agent takes on the user’s behalf.</a:t>
            </a:r>
            <a:endParaRPr/>
          </a:p>
        </p:txBody>
      </p:sp>
      <p:pic>
        <p:nvPicPr>
          <p:cNvPr descr="image.png" id="312" name="Google Shape;31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900" y="3319462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1"/>
          <p:cNvSpPr txBox="1"/>
          <p:nvPr/>
        </p:nvSpPr>
        <p:spPr>
          <a:xfrm>
            <a:off x="971550" y="3295650"/>
            <a:ext cx="3476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2E8E7"/>
                </a:solidFill>
                <a:latin typeface="DM Sans"/>
                <a:ea typeface="DM Sans"/>
                <a:cs typeface="DM Sans"/>
                <a:sym typeface="DM Sans"/>
              </a:rPr>
              <a:t>Classify symptom severity and urgency level in real time</a:t>
            </a:r>
            <a:endParaRPr/>
          </a:p>
        </p:txBody>
      </p:sp>
      <p:pic>
        <p:nvPicPr>
          <p:cNvPr descr="image.png" id="314" name="Google Shape;31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3319462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1"/>
          <p:cNvSpPr txBox="1"/>
          <p:nvPr/>
        </p:nvSpPr>
        <p:spPr>
          <a:xfrm>
            <a:off x="6638925" y="3295650"/>
            <a:ext cx="3848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2E8E7"/>
                </a:solidFill>
                <a:latin typeface="DM Sans"/>
                <a:ea typeface="DM Sans"/>
                <a:cs typeface="DM Sans"/>
                <a:sym typeface="DM Sans"/>
              </a:rPr>
              <a:t>Match symptoms to the right medical specialty or department</a:t>
            </a:r>
            <a:endParaRPr/>
          </a:p>
        </p:txBody>
      </p:sp>
      <p:pic>
        <p:nvPicPr>
          <p:cNvPr descr="image.png" id="316" name="Google Shape;31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900" y="3881437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1"/>
          <p:cNvSpPr txBox="1"/>
          <p:nvPr/>
        </p:nvSpPr>
        <p:spPr>
          <a:xfrm>
            <a:off x="971550" y="3857625"/>
            <a:ext cx="37623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2E8E7"/>
                </a:solidFill>
                <a:latin typeface="DM Sans"/>
                <a:ea typeface="DM Sans"/>
                <a:cs typeface="DM Sans"/>
                <a:sym typeface="DM Sans"/>
              </a:rPr>
              <a:t>Rank and recommend nearby hospitals by fit, rating, and ETA</a:t>
            </a:r>
            <a:endParaRPr/>
          </a:p>
        </p:txBody>
      </p:sp>
      <p:pic>
        <p:nvPicPr>
          <p:cNvPr descr="image.png" id="318" name="Google Shape;31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3881437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1"/>
          <p:cNvSpPr txBox="1"/>
          <p:nvPr/>
        </p:nvSpPr>
        <p:spPr>
          <a:xfrm>
            <a:off x="6638925" y="3857625"/>
            <a:ext cx="3619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2E8E7"/>
                </a:solidFill>
                <a:latin typeface="DM Sans"/>
                <a:ea typeface="DM Sans"/>
                <a:cs typeface="DM Sans"/>
                <a:sym typeface="DM Sans"/>
              </a:rPr>
              <a:t>Launch live Google Maps navigation to the chosen hospital</a:t>
            </a:r>
            <a:endParaRPr/>
          </a:p>
        </p:txBody>
      </p:sp>
      <p:pic>
        <p:nvPicPr>
          <p:cNvPr descr="image.png" id="320" name="Google Shape;32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900" y="4443412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1"/>
          <p:cNvSpPr txBox="1"/>
          <p:nvPr/>
        </p:nvSpPr>
        <p:spPr>
          <a:xfrm>
            <a:off x="971550" y="4419600"/>
            <a:ext cx="3810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2E8E7"/>
                </a:solidFill>
                <a:latin typeface="DM Sans"/>
                <a:ea typeface="DM Sans"/>
                <a:cs typeface="DM Sans"/>
                <a:sym typeface="DM Sans"/>
              </a:rPr>
              <a:t>Trigger Emergency SOS with location sharing for critical cases</a:t>
            </a:r>
            <a:endParaRPr/>
          </a:p>
        </p:txBody>
      </p:sp>
      <p:pic>
        <p:nvPicPr>
          <p:cNvPr descr="image.png" id="322" name="Google Shape;32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4443412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1"/>
          <p:cNvSpPr txBox="1"/>
          <p:nvPr/>
        </p:nvSpPr>
        <p:spPr>
          <a:xfrm>
            <a:off x="6638925" y="4419600"/>
            <a:ext cx="30289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2E8E7"/>
                </a:solidFill>
                <a:latin typeface="DM Sans"/>
                <a:ea typeface="DM Sans"/>
                <a:cs typeface="DM Sans"/>
                <a:sym typeface="DM Sans"/>
              </a:rPr>
              <a:t>Schedule and send adaptive medicine reminders</a:t>
            </a:r>
            <a:endParaRPr/>
          </a:p>
        </p:txBody>
      </p:sp>
      <p:pic>
        <p:nvPicPr>
          <p:cNvPr descr="image.png" id="324" name="Google Shape;32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900" y="5005387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1"/>
          <p:cNvSpPr txBox="1"/>
          <p:nvPr/>
        </p:nvSpPr>
        <p:spPr>
          <a:xfrm>
            <a:off x="971550" y="4981575"/>
            <a:ext cx="3514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2E8E7"/>
                </a:solidFill>
                <a:latin typeface="DM Sans"/>
                <a:ea typeface="DM Sans"/>
                <a:cs typeface="DM Sans"/>
                <a:sym typeface="DM Sans"/>
              </a:rPr>
              <a:t>Build and analyze a multi-generation family health profile</a:t>
            </a:r>
            <a:endParaRPr/>
          </a:p>
        </p:txBody>
      </p:sp>
      <p:pic>
        <p:nvPicPr>
          <p:cNvPr descr="image.png" id="326" name="Google Shape;32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5005387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1"/>
          <p:cNvSpPr txBox="1"/>
          <p:nvPr/>
        </p:nvSpPr>
        <p:spPr>
          <a:xfrm>
            <a:off x="6638925" y="4981575"/>
            <a:ext cx="40290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2E8E7"/>
                </a:solidFill>
                <a:latin typeface="DM Sans"/>
                <a:ea typeface="DM Sans"/>
                <a:cs typeface="DM Sans"/>
                <a:sym typeface="DM Sans"/>
              </a:rPr>
              <a:t>Generate personalized preventive and lifestyle recommendations</a:t>
            </a:r>
            <a:endParaRPr/>
          </a:p>
        </p:txBody>
      </p:sp>
      <p:pic>
        <p:nvPicPr>
          <p:cNvPr descr="image.png" id="328" name="Google Shape;32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900" y="5567362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1"/>
          <p:cNvSpPr txBox="1"/>
          <p:nvPr/>
        </p:nvSpPr>
        <p:spPr>
          <a:xfrm>
            <a:off x="971550" y="5543550"/>
            <a:ext cx="33528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2E8E7"/>
                </a:solidFill>
                <a:latin typeface="DM Sans"/>
                <a:ea typeface="DM Sans"/>
                <a:cs typeface="DM Sans"/>
                <a:sym typeface="DM Sans"/>
              </a:rPr>
              <a:t>Explain lab reports and prescriptions in plain language</a:t>
            </a:r>
            <a:endParaRPr/>
          </a:p>
        </p:txBody>
      </p:sp>
      <p:pic>
        <p:nvPicPr>
          <p:cNvPr descr="image.png" id="330" name="Google Shape;33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5567362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1"/>
          <p:cNvSpPr txBox="1"/>
          <p:nvPr/>
        </p:nvSpPr>
        <p:spPr>
          <a:xfrm>
            <a:off x="6638925" y="5543550"/>
            <a:ext cx="35623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2E8E7"/>
                </a:solidFill>
                <a:latin typeface="DM Sans"/>
                <a:ea typeface="DM Sans"/>
                <a:cs typeface="DM Sans"/>
                <a:sym typeface="DM Sans"/>
              </a:rPr>
              <a:t>Flag potential drug interactions across active medications</a:t>
            </a:r>
            <a:endParaRPr/>
          </a:p>
        </p:txBody>
      </p:sp>
      <p:pic>
        <p:nvPicPr>
          <p:cNvPr descr="image.png" id="332" name="Google Shape;33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900" y="6129337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1"/>
          <p:cNvSpPr txBox="1"/>
          <p:nvPr/>
        </p:nvSpPr>
        <p:spPr>
          <a:xfrm>
            <a:off x="971550" y="6105525"/>
            <a:ext cx="31527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2E8E7"/>
                </a:solidFill>
                <a:latin typeface="DM Sans"/>
                <a:ea typeface="DM Sans"/>
                <a:cs typeface="DM Sans"/>
                <a:sym typeface="DM Sans"/>
              </a:rPr>
              <a:t>Send proactive check-up and screening reminders</a:t>
            </a:r>
            <a:endParaRPr/>
          </a:p>
        </p:txBody>
      </p:sp>
      <p:pic>
        <p:nvPicPr>
          <p:cNvPr descr="image.png" id="334" name="Google Shape;33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6129337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1"/>
          <p:cNvSpPr txBox="1"/>
          <p:nvPr/>
        </p:nvSpPr>
        <p:spPr>
          <a:xfrm>
            <a:off x="6638925" y="6105525"/>
            <a:ext cx="29813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2E8E7"/>
                </a:solidFill>
                <a:latin typeface="DM Sans"/>
                <a:ea typeface="DM Sans"/>
                <a:cs typeface="DM Sans"/>
                <a:sym typeface="DM Sans"/>
              </a:rPr>
              <a:t>Follow up after a visit to track recovery progress</a:t>
            </a:r>
            <a:endParaRPr/>
          </a:p>
        </p:txBody>
      </p:sp>
      <p:sp>
        <p:nvSpPr>
          <p:cNvPr id="336" name="Google Shape;336;p21"/>
          <p:cNvSpPr txBox="1"/>
          <p:nvPr/>
        </p:nvSpPr>
        <p:spPr>
          <a:xfrm>
            <a:off x="542925" y="952500"/>
            <a:ext cx="11649075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AGENT CAPABILITIES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1" name="Google Shape;34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2722364"/>
            <a:ext cx="5467350" cy="17677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3" name="Google Shape;34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1725" y="2722364"/>
            <a:ext cx="5467350" cy="17677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4661594"/>
            <a:ext cx="5467350" cy="17677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1725" y="4661594"/>
            <a:ext cx="5467350" cy="17677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" y="428625"/>
            <a:ext cx="7715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2"/>
          <p:cNvSpPr txBox="1"/>
          <p:nvPr/>
        </p:nvSpPr>
        <p:spPr>
          <a:xfrm>
            <a:off x="542925" y="1531590"/>
            <a:ext cx="111061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0F5BC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The data and tools that power Vitalis</a:t>
            </a:r>
            <a:endParaRPr/>
          </a:p>
        </p:txBody>
      </p:sp>
      <p:pic>
        <p:nvPicPr>
          <p:cNvPr descr="image.png" id="348" name="Google Shape;348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2950" y="2922389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2"/>
          <p:cNvSpPr txBox="1"/>
          <p:nvPr/>
        </p:nvSpPr>
        <p:spPr>
          <a:xfrm>
            <a:off x="742950" y="3455789"/>
            <a:ext cx="5320665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Reasoning Layer</a:t>
            </a:r>
            <a:endParaRPr/>
          </a:p>
        </p:txBody>
      </p:sp>
      <p:pic>
        <p:nvPicPr>
          <p:cNvPr descr="image.png" id="350" name="Google Shape;35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2922389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2"/>
          <p:cNvSpPr txBox="1"/>
          <p:nvPr/>
        </p:nvSpPr>
        <p:spPr>
          <a:xfrm>
            <a:off x="6381750" y="3455789"/>
            <a:ext cx="5320665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Location &amp; Care Layer</a:t>
            </a:r>
            <a:endParaRPr/>
          </a:p>
        </p:txBody>
      </p:sp>
      <p:pic>
        <p:nvPicPr>
          <p:cNvPr descr="image.png" id="352" name="Google Shape;35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2950" y="4861619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2"/>
          <p:cNvSpPr txBox="1"/>
          <p:nvPr/>
        </p:nvSpPr>
        <p:spPr>
          <a:xfrm>
            <a:off x="742950" y="5395019"/>
            <a:ext cx="5320665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Health Data Layer</a:t>
            </a:r>
            <a:endParaRPr/>
          </a:p>
        </p:txBody>
      </p:sp>
      <p:pic>
        <p:nvPicPr>
          <p:cNvPr descr="image.png" id="354" name="Google Shape;354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4861619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2"/>
          <p:cNvSpPr txBox="1"/>
          <p:nvPr/>
        </p:nvSpPr>
        <p:spPr>
          <a:xfrm>
            <a:off x="6381750" y="5395019"/>
            <a:ext cx="5320665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Engagement Layer</a:t>
            </a:r>
            <a:endParaRPr/>
          </a:p>
        </p:txBody>
      </p:sp>
      <p:pic>
        <p:nvPicPr>
          <p:cNvPr descr="image.png" id="356" name="Google Shape;356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250" y="3036689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2"/>
          <p:cNvSpPr txBox="1"/>
          <p:nvPr/>
        </p:nvSpPr>
        <p:spPr>
          <a:xfrm>
            <a:off x="914400" y="3737669"/>
            <a:ext cx="4895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2CFCE"/>
                </a:solidFill>
                <a:latin typeface="DM Sans"/>
                <a:ea typeface="DM Sans"/>
                <a:cs typeface="DM Sans"/>
                <a:sym typeface="DM Sans"/>
              </a:rPr>
              <a:t>LLM-based symptom &amp; triage reasoning engine</a:t>
            </a:r>
            <a:endParaRPr/>
          </a:p>
        </p:txBody>
      </p:sp>
      <p:sp>
        <p:nvSpPr>
          <p:cNvPr id="358" name="Google Shape;358;p22"/>
          <p:cNvSpPr txBox="1"/>
          <p:nvPr/>
        </p:nvSpPr>
        <p:spPr>
          <a:xfrm>
            <a:off x="914400" y="4013894"/>
            <a:ext cx="4895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2CFCE"/>
                </a:solidFill>
                <a:latin typeface="DM Sans"/>
                <a:ea typeface="DM Sans"/>
                <a:cs typeface="DM Sans"/>
                <a:sym typeface="DM Sans"/>
              </a:rPr>
              <a:t>Hereditary risk inference over family health data</a:t>
            </a:r>
            <a:endParaRPr/>
          </a:p>
        </p:txBody>
      </p:sp>
      <p:pic>
        <p:nvPicPr>
          <p:cNvPr descr="image.png" id="359" name="Google Shape;359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81762" y="3036689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2"/>
          <p:cNvSpPr txBox="1"/>
          <p:nvPr/>
        </p:nvSpPr>
        <p:spPr>
          <a:xfrm>
            <a:off x="6553200" y="3737669"/>
            <a:ext cx="4895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2CFCE"/>
                </a:solidFill>
                <a:latin typeface="DM Sans"/>
                <a:ea typeface="DM Sans"/>
                <a:cs typeface="DM Sans"/>
                <a:sym typeface="DM Sans"/>
              </a:rPr>
              <a:t>Google Maps / Places API — distance, ETA, navigation</a:t>
            </a:r>
            <a:endParaRPr/>
          </a:p>
        </p:txBody>
      </p:sp>
      <p:sp>
        <p:nvSpPr>
          <p:cNvPr id="361" name="Google Shape;361;p22"/>
          <p:cNvSpPr txBox="1"/>
          <p:nvPr/>
        </p:nvSpPr>
        <p:spPr>
          <a:xfrm>
            <a:off x="6553200" y="4013894"/>
            <a:ext cx="4895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2CFCE"/>
                </a:solidFill>
                <a:latin typeface="DM Sans"/>
                <a:ea typeface="DM Sans"/>
                <a:cs typeface="DM Sans"/>
                <a:sym typeface="DM Sans"/>
              </a:rPr>
              <a:t>Hospital directory: specialties, ratings, bed data</a:t>
            </a:r>
            <a:endParaRPr/>
          </a:p>
        </p:txBody>
      </p:sp>
      <p:pic>
        <p:nvPicPr>
          <p:cNvPr descr="image.png" id="362" name="Google Shape;362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6775" y="4975919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2"/>
          <p:cNvSpPr txBox="1"/>
          <p:nvPr/>
        </p:nvSpPr>
        <p:spPr>
          <a:xfrm>
            <a:off x="914400" y="5676900"/>
            <a:ext cx="4895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2CFCE"/>
                </a:solidFill>
                <a:latin typeface="DM Sans"/>
                <a:ea typeface="DM Sans"/>
                <a:cs typeface="DM Sans"/>
                <a:sym typeface="DM Sans"/>
              </a:rPr>
              <a:t>Digital health record &amp; prescription/report storage</a:t>
            </a:r>
            <a:endParaRPr/>
          </a:p>
        </p:txBody>
      </p:sp>
      <p:sp>
        <p:nvSpPr>
          <p:cNvPr id="364" name="Google Shape;364;p22"/>
          <p:cNvSpPr txBox="1"/>
          <p:nvPr/>
        </p:nvSpPr>
        <p:spPr>
          <a:xfrm>
            <a:off x="914400" y="5953125"/>
            <a:ext cx="4895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2CFCE"/>
                </a:solidFill>
                <a:latin typeface="DM Sans"/>
                <a:ea typeface="DM Sans"/>
                <a:cs typeface="DM Sans"/>
                <a:sym typeface="DM Sans"/>
              </a:rPr>
              <a:t>Drug interaction &amp; dosage reference database</a:t>
            </a:r>
            <a:endParaRPr/>
          </a:p>
        </p:txBody>
      </p:sp>
      <p:pic>
        <p:nvPicPr>
          <p:cNvPr descr="image.png" id="365" name="Google Shape;365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96050" y="4975919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2"/>
          <p:cNvSpPr txBox="1"/>
          <p:nvPr/>
        </p:nvSpPr>
        <p:spPr>
          <a:xfrm>
            <a:off x="6553200" y="5676900"/>
            <a:ext cx="4895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2CFCE"/>
                </a:solidFill>
                <a:latin typeface="DM Sans"/>
                <a:ea typeface="DM Sans"/>
                <a:cs typeface="DM Sans"/>
                <a:sym typeface="DM Sans"/>
              </a:rPr>
              <a:t>Push notification &amp; reminder scheduling engine</a:t>
            </a:r>
            <a:endParaRPr/>
          </a:p>
        </p:txBody>
      </p:sp>
      <p:sp>
        <p:nvSpPr>
          <p:cNvPr id="367" name="Google Shape;367;p22"/>
          <p:cNvSpPr txBox="1"/>
          <p:nvPr/>
        </p:nvSpPr>
        <p:spPr>
          <a:xfrm>
            <a:off x="6553200" y="5953125"/>
            <a:ext cx="4895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2CFCE"/>
                </a:solidFill>
                <a:latin typeface="DM Sans"/>
                <a:ea typeface="DM Sans"/>
                <a:cs typeface="DM Sans"/>
                <a:sym typeface="DM Sans"/>
              </a:rPr>
              <a:t>Follow-up and recovery check-in workflows</a:t>
            </a:r>
            <a:endParaRPr/>
          </a:p>
        </p:txBody>
      </p:sp>
      <p:sp>
        <p:nvSpPr>
          <p:cNvPr id="368" name="Google Shape;368;p22"/>
          <p:cNvSpPr txBox="1"/>
          <p:nvPr/>
        </p:nvSpPr>
        <p:spPr>
          <a:xfrm>
            <a:off x="742950" y="3718619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F5BC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69" name="Google Shape;369;p22"/>
          <p:cNvSpPr txBox="1"/>
          <p:nvPr/>
        </p:nvSpPr>
        <p:spPr>
          <a:xfrm>
            <a:off x="742950" y="3994844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F5BC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70" name="Google Shape;370;p22"/>
          <p:cNvSpPr txBox="1"/>
          <p:nvPr/>
        </p:nvSpPr>
        <p:spPr>
          <a:xfrm>
            <a:off x="6381750" y="3718619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F5BC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71" name="Google Shape;371;p22"/>
          <p:cNvSpPr txBox="1"/>
          <p:nvPr/>
        </p:nvSpPr>
        <p:spPr>
          <a:xfrm>
            <a:off x="6381750" y="3994844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F5BC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72" name="Google Shape;372;p22"/>
          <p:cNvSpPr txBox="1"/>
          <p:nvPr/>
        </p:nvSpPr>
        <p:spPr>
          <a:xfrm>
            <a:off x="742950" y="565785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F5BC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73" name="Google Shape;373;p22"/>
          <p:cNvSpPr txBox="1"/>
          <p:nvPr/>
        </p:nvSpPr>
        <p:spPr>
          <a:xfrm>
            <a:off x="742950" y="593407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F5BC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74" name="Google Shape;374;p22"/>
          <p:cNvSpPr txBox="1"/>
          <p:nvPr/>
        </p:nvSpPr>
        <p:spPr>
          <a:xfrm>
            <a:off x="6381750" y="565785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F5BC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75" name="Google Shape;375;p22"/>
          <p:cNvSpPr txBox="1"/>
          <p:nvPr/>
        </p:nvSpPr>
        <p:spPr>
          <a:xfrm>
            <a:off x="6381750" y="593407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F5BC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76" name="Google Shape;376;p22"/>
          <p:cNvSpPr txBox="1"/>
          <p:nvPr/>
        </p:nvSpPr>
        <p:spPr>
          <a:xfrm>
            <a:off x="542925" y="952500"/>
            <a:ext cx="11649075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UNDER THE HOOD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1" name="Google Shape;38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428625"/>
            <a:ext cx="7334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3"/>
          <p:cNvSpPr txBox="1"/>
          <p:nvPr/>
        </p:nvSpPr>
        <p:spPr>
          <a:xfrm>
            <a:off x="542925" y="1531590"/>
            <a:ext cx="111061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0F5BC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Typical health apps advise. Vitalis moves you.</a:t>
            </a:r>
            <a:endParaRPr/>
          </a:p>
        </p:txBody>
      </p:sp>
      <p:sp>
        <p:nvSpPr>
          <p:cNvPr id="384" name="Google Shape;384;p23"/>
          <p:cNvSpPr/>
          <p:nvPr/>
        </p:nvSpPr>
        <p:spPr>
          <a:xfrm>
            <a:off x="542925" y="3533775"/>
            <a:ext cx="11106150" cy="2895600"/>
          </a:xfrm>
          <a:prstGeom prst="roundRect">
            <a:avLst>
              <a:gd fmla="val 0" name="adj"/>
            </a:avLst>
          </a:prstGeom>
          <a:solidFill>
            <a:srgbClr val="082A2E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5" name="Google Shape;385;p23"/>
          <p:cNvGraphicFramePr/>
          <p:nvPr/>
        </p:nvGraphicFramePr>
        <p:xfrm>
          <a:off x="542925" y="35337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{307E157A-7ABA-48BD-A289-EA00F4A936FE}</a:tableStyleId>
              </a:tblPr>
              <a:tblGrid>
                <a:gridCol w="4993475"/>
                <a:gridCol w="6103150"/>
              </a:tblGrid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Typical Healthcare App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5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Vitalis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5BC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B2CFC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Suggests possible conditions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F5BC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Triages urgency and tells you what to do next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B2CFC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Leaves hospital search to the user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F5BC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Recommends, ranks, and navigates to the right hospital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B2CFC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Generic reminders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F5BC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Adaptive reminders tied to real prescriptions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B2CFC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Reacts to reported symptoms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F5BC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Maps hereditary risk before symptoms appear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B2CFC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One-time advice session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F5BC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Follows up through recovery and prevention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6" name="Google Shape;386;p23"/>
          <p:cNvSpPr/>
          <p:nvPr/>
        </p:nvSpPr>
        <p:spPr>
          <a:xfrm>
            <a:off x="547687" y="4033837"/>
            <a:ext cx="4993481" cy="9525"/>
          </a:xfrm>
          <a:prstGeom prst="rect">
            <a:avLst/>
          </a:prstGeom>
          <a:solidFill>
            <a:srgbClr val="00F5B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3"/>
          <p:cNvSpPr/>
          <p:nvPr/>
        </p:nvSpPr>
        <p:spPr>
          <a:xfrm>
            <a:off x="5541168" y="4033837"/>
            <a:ext cx="6103143" cy="9525"/>
          </a:xfrm>
          <a:prstGeom prst="rect">
            <a:avLst/>
          </a:prstGeom>
          <a:solidFill>
            <a:srgbClr val="00F5B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3"/>
          <p:cNvSpPr/>
          <p:nvPr/>
        </p:nvSpPr>
        <p:spPr>
          <a:xfrm>
            <a:off x="547687" y="4510087"/>
            <a:ext cx="499348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3"/>
          <p:cNvSpPr/>
          <p:nvPr/>
        </p:nvSpPr>
        <p:spPr>
          <a:xfrm>
            <a:off x="5541168" y="4510087"/>
            <a:ext cx="610314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3"/>
          <p:cNvSpPr/>
          <p:nvPr/>
        </p:nvSpPr>
        <p:spPr>
          <a:xfrm>
            <a:off x="547687" y="4986337"/>
            <a:ext cx="499348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3"/>
          <p:cNvSpPr/>
          <p:nvPr/>
        </p:nvSpPr>
        <p:spPr>
          <a:xfrm>
            <a:off x="5541168" y="4986337"/>
            <a:ext cx="610314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3"/>
          <p:cNvSpPr/>
          <p:nvPr/>
        </p:nvSpPr>
        <p:spPr>
          <a:xfrm>
            <a:off x="547687" y="5462587"/>
            <a:ext cx="499348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3"/>
          <p:cNvSpPr/>
          <p:nvPr/>
        </p:nvSpPr>
        <p:spPr>
          <a:xfrm>
            <a:off x="5541168" y="5462587"/>
            <a:ext cx="610314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3"/>
          <p:cNvSpPr/>
          <p:nvPr/>
        </p:nvSpPr>
        <p:spPr>
          <a:xfrm>
            <a:off x="547687" y="5938837"/>
            <a:ext cx="499348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3"/>
          <p:cNvSpPr/>
          <p:nvPr/>
        </p:nvSpPr>
        <p:spPr>
          <a:xfrm>
            <a:off x="5541168" y="5938837"/>
            <a:ext cx="610314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3"/>
          <p:cNvSpPr txBox="1"/>
          <p:nvPr/>
        </p:nvSpPr>
        <p:spPr>
          <a:xfrm>
            <a:off x="542925" y="952500"/>
            <a:ext cx="11649075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DIFFERENCE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1" name="Google Shape;40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2" name="Google Shape;40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7325" y="4729013"/>
            <a:ext cx="1657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3" name="Google Shape;40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34050" y="1671637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4"/>
          <p:cNvSpPr txBox="1"/>
          <p:nvPr/>
        </p:nvSpPr>
        <p:spPr>
          <a:xfrm>
            <a:off x="2935605" y="2586037"/>
            <a:ext cx="632079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From symptom to solution.</a:t>
            </a:r>
            <a:endParaRPr/>
          </a:p>
        </p:txBody>
      </p:sp>
      <p:sp>
        <p:nvSpPr>
          <p:cNvPr id="405" name="Google Shape;405;p24"/>
          <p:cNvSpPr txBox="1"/>
          <p:nvPr/>
        </p:nvSpPr>
        <p:spPr>
          <a:xfrm>
            <a:off x="4870846" y="3203227"/>
            <a:ext cx="2450306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F5B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This is Vitalis.</a:t>
            </a:r>
            <a:endParaRPr/>
          </a:p>
        </p:txBody>
      </p:sp>
      <p:sp>
        <p:nvSpPr>
          <p:cNvPr id="406" name="Google Shape;406;p24"/>
          <p:cNvSpPr txBox="1"/>
          <p:nvPr/>
        </p:nvSpPr>
        <p:spPr>
          <a:xfrm>
            <a:off x="3000375" y="3805088"/>
            <a:ext cx="61912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0F5BC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An AI healthcare agent for every patient — guiding, directing, and preventing, not just informing.</a:t>
            </a:r>
            <a:endParaRPr/>
          </a:p>
        </p:txBody>
      </p:sp>
      <p:pic>
        <p:nvPicPr>
          <p:cNvPr descr="image.png" id="407" name="Google Shape;40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15025" y="1852612"/>
            <a:ext cx="361950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